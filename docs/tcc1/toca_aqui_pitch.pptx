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Imagine o Leonardo.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Guitarrista de 22 anos em Campo Mourão. Talentoso, dedicado, carrega o equipamento no Uber. Ele posta vídeos, manda portfólio por DM para dezenas de bares —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responde.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finalmente consegue um show, o dono do bar cancela 2 dias antes. </a:t>
            </a:r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meses de agenda bloqueados. Pagamento: zero.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36976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2004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mercado bloqueado — funciona só no boca a boca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75888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36393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Calotes, atrasos e descontos pós-show são rotina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7280" y="407822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segurança jurídica — cancelamentos sem indenização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53712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4517136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reputação portátil — não há como provar histórico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7"/>
          <p:cNvSpPr/>
          <p:nvPr/>
        </p:nvSpPr>
        <p:spPr>
          <a:xfrm>
            <a:off x="457200" y="443484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artistas pesquisados usariam um app de vagas de shows  |  </a:t>
            </a:r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consideram avaliações públicas importantes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Solução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Toca Aqui é um marketplace mobile que conecta artistas a estabelecimentos para shows ao vivo — com contrato automático.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64008" cy="137160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Bilateral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Estabelecimento publica vaga → artista se candidata. Intenção real de contratação.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54880" y="16459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645920"/>
            <a:ext cx="64008" cy="137160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Mini-Contrato Automático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32120" y="2194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PDF gerado com cláusula de cancelamento. Segurança jurídica para os dois lados.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2461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246120"/>
            <a:ext cx="64008" cy="137160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Bidirecionais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1732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Artistas avaliam bares, bares avaliam artistas. Reputação verificada e portátil.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754880" y="3246120"/>
            <a:ext cx="3749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246120"/>
            <a:ext cx="64008" cy="137160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747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Completo + Filtros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32120" y="3794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Vídeos, gênero musical, cachê, histórico. Filtros por localidade, estrutura e faixa de preço.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Tamanho do Mercado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Brasil: 2° maior mercado de shows ao vivo do mundo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56032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R$ 94 bi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ao vivo no Brasil (ANAFIMA 2025)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56032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463040"/>
            <a:ext cx="2560320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R$ 5–10 bi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4904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em bares e casas de show de pequeno/médio porte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2560320" cy="2011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645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R$ 50–150 mi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8368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cidades piloto nos primeiros 2 anos</a:t>
            </a:r>
            <a:endParaRPr lang="en-US" sz="10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785616"/>
            <a:ext cx="182880" cy="182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60120" y="3749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 mil bares e restaurantes ativos no Brasil (IFB 2024)</a:t>
            </a:r>
            <a:endParaRPr lang="en-US" sz="11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33088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60120" y="40965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mil bares — público-alvo primário do Toca Aqui</a:t>
            </a:r>
            <a:endParaRPr lang="en-US" sz="11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80560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0120" y="444398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de 31% em eventos em 2025 (ANAFIMA/Ecad)</a:t>
            </a:r>
            <a:endParaRPr lang="en-US" sz="11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828032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0120" y="479145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Artistas recebem menos de 1% do streaming — shows são a renda principal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Negócio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914400"/>
            <a:ext cx="3749040" cy="4572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14630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Artistas: músicos solo, DJs, bandas (20–40 anos)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Estabelecimentos: bares, pubs, casas de show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adopters: artistas locais ativos + bares com shows semanais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914400"/>
            <a:ext cx="3749040" cy="45720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14630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Artistas: encontre shows, feche contratos com segurança e construa reputação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Bares: contrate o artista certo em minutos, com garantia contratual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292608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926080"/>
            <a:ext cx="3749040" cy="45720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089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Receita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914400" y="3474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Freemium artista — R$ 29–39/mês (ilimitado)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Comissão 5–10% + destaque pago p/ bares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Projeção: R$ 70k ARR Ano 1 → R$ 1,7mi Ano 3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292608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2926080"/>
            <a:ext cx="3749040" cy="45720"/>
          </a:xfrm>
          <a:prstGeom prst="rect">
            <a:avLst/>
          </a:prstGeom>
          <a:solidFill>
            <a:srgbClr val="0F346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0352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029200" y="3474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primária com artistas (mar/2026)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dispostos a pagar pela ferramenta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Canvas, personas e mapas de empatia definidos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Ambiente Competitivo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1097280"/>
                <a:gridCol w="1097280"/>
                <a:gridCol w="91440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Eshows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 pontuais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Contrata Banda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Vitrine passiva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Music Brasil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Orçamentos p/ eventos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Toca Aqui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regulares em bares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Substitutos Indiretos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14216"/>
            <a:ext cx="182880" cy="1828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3977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WhatsApp e DMs no Instagram — custo zero, sem estrutura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79976"/>
            <a:ext cx="182880" cy="1828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0120" y="434340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a boca e rede de indicações — funciona apenas para quem já tem networking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45736"/>
            <a:ext cx="182880" cy="1828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0120" y="4709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de vitrine passiva — artista anuncia e espera, sem intenção de compra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Diferenciais Competitivos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64008" cy="100584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Mini-Contrato Automático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1463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concorrente oferece contrato com cláusula de cancelamento integrado. Funcionalidade mais desejada na pesquisa.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49440" y="132588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94560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NO MERCADO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40080" y="219456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194560"/>
            <a:ext cx="64008" cy="100584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68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Invertido (Vaga → Candidatura)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508760" y="2651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usam vitrine passiva. O Toca Aqui gera intenção real: bar publica vaga com data, cachê e horário.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949440" y="251460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94560"/>
          </a:solidFill>
          <a:ln/>
        </p:spPr>
      </p:sp>
      <p:sp>
        <p:nvSpPr>
          <p:cNvPr id="16" name="Text 12"/>
          <p:cNvSpPr/>
          <p:nvPr/>
        </p:nvSpPr>
        <p:spPr>
          <a:xfrm>
            <a:off x="694944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ATIVO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640080" y="338328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3383280"/>
            <a:ext cx="64008" cy="100584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576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3474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Bidirecionais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508760" y="3840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nos dois lados. Resolve o problema de confiança que impede a formalização do mercado.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49440" y="3703320"/>
            <a:ext cx="1371600" cy="320040"/>
          </a:xfrm>
          <a:prstGeom prst="roundRect">
            <a:avLst>
              <a:gd name="adj" fmla="val 14286"/>
            </a:avLst>
          </a:prstGeom>
          <a:solidFill>
            <a:srgbClr val="E94560"/>
          </a:solidFill>
          <a:ln/>
        </p:spPr>
      </p:sp>
      <p:sp>
        <p:nvSpPr>
          <p:cNvPr id="23" name="Text 18"/>
          <p:cNvSpPr/>
          <p:nvPr/>
        </p:nvSpPr>
        <p:spPr>
          <a:xfrm>
            <a:off x="694944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Barreiras de Entrada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40080" y="4160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de rede: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usuários, mais valioso o histórico de avaliações e mais difícil de replicar.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cost: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contrato fechado aumenta a dependência da plataforma. 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proprietários: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reputação acumulada é o maior ativo — cresce com o tempo.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Estratégias de Aquisição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749040" cy="9601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1556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Geográfico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em 1 cidade média do Paraná (ex: Campo Mourão, Cascavel). Ativar os dois lados manualmente com subsídio — bares âncora + artistas locais.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74720" y="1097280"/>
            <a:ext cx="731520" cy="228600"/>
          </a:xfrm>
          <a:prstGeom prst="roundRect">
            <a:avLst>
              <a:gd name="adj" fmla="val 20000"/>
            </a:avLst>
          </a:prstGeom>
          <a:solidFill>
            <a:srgbClr val="F0A500"/>
          </a:solidFill>
          <a:ln/>
        </p:spPr>
      </p:sp>
      <p:sp>
        <p:nvSpPr>
          <p:cNvPr id="8" name="Text 5"/>
          <p:cNvSpPr/>
          <p:nvPr/>
        </p:nvSpPr>
        <p:spPr>
          <a:xfrm>
            <a:off x="3474720" y="1097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VALIDAR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749040" cy="9601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155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078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em Redes Sociais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37760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 TikTok com conteúdo para artistas independentes. Canal de comunicação direto com o público-alvo.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589520" y="1097280"/>
            <a:ext cx="731520" cy="228600"/>
          </a:xfrm>
          <a:prstGeom prst="roundRect">
            <a:avLst>
              <a:gd name="adj" fmla="val 20000"/>
            </a:avLst>
          </a:prstGeom>
          <a:solidFill>
            <a:srgbClr val="F0A500"/>
          </a:solidFill>
          <a:ln/>
        </p:spPr>
      </p:sp>
      <p:sp>
        <p:nvSpPr>
          <p:cNvPr id="14" name="Text 10"/>
          <p:cNvSpPr/>
          <p:nvPr/>
        </p:nvSpPr>
        <p:spPr>
          <a:xfrm>
            <a:off x="7589520" y="1097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VALIDAR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640080" y="2148840"/>
            <a:ext cx="3749040" cy="9601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585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221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Institucionais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2960" y="2560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Escolas de música, sindicatos e associações de músicos (OMB) para aquisição em massa de artistas com baixo CAC.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474720" y="2240280"/>
            <a:ext cx="731520" cy="228600"/>
          </a:xfrm>
          <a:prstGeom prst="roundRect">
            <a:avLst>
              <a:gd name="adj" fmla="val 20000"/>
            </a:avLst>
          </a:prstGeom>
          <a:solidFill>
            <a:srgbClr val="F0A500"/>
          </a:solidFill>
          <a:ln/>
        </p:spPr>
      </p:sp>
      <p:sp>
        <p:nvSpPr>
          <p:cNvPr id="20" name="Text 15"/>
          <p:cNvSpPr/>
          <p:nvPr/>
        </p:nvSpPr>
        <p:spPr>
          <a:xfrm>
            <a:off x="3474720" y="2240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VALIDAR</a:t>
            </a:r>
            <a:endParaRPr lang="en-US" sz="700" dirty="0"/>
          </a:p>
        </p:txBody>
      </p:sp>
      <p:sp>
        <p:nvSpPr>
          <p:cNvPr id="21" name="Shape 16"/>
          <p:cNvSpPr/>
          <p:nvPr/>
        </p:nvSpPr>
        <p:spPr>
          <a:xfrm>
            <a:off x="4754880" y="2148840"/>
            <a:ext cx="3749040" cy="9601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25856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2221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Orgânica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37760" y="2560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Artista indica artista. Bares que tiveram boas experiências recomendam a plataforma para outros estabelecimentos.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7589520" y="2240280"/>
            <a:ext cx="731520" cy="228600"/>
          </a:xfrm>
          <a:prstGeom prst="roundRect">
            <a:avLst>
              <a:gd name="adj" fmla="val 20000"/>
            </a:avLst>
          </a:prstGeom>
          <a:solidFill>
            <a:srgbClr val="F0A500"/>
          </a:solidFill>
          <a:ln/>
        </p:spPr>
      </p:sp>
      <p:sp>
        <p:nvSpPr>
          <p:cNvPr id="26" name="Text 20"/>
          <p:cNvSpPr/>
          <p:nvPr/>
        </p:nvSpPr>
        <p:spPr>
          <a:xfrm>
            <a:off x="7589520" y="2240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VALIDAR</a:t>
            </a:r>
            <a:endParaRPr lang="en-US" sz="700" dirty="0"/>
          </a:p>
        </p:txBody>
      </p:sp>
      <p:sp>
        <p:nvSpPr>
          <p:cNvPr id="27" name="Shape 21"/>
          <p:cNvSpPr/>
          <p:nvPr/>
        </p:nvSpPr>
        <p:spPr>
          <a:xfrm>
            <a:off x="640080" y="3291840"/>
            <a:ext cx="3749040" cy="9601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40156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34440" y="33649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Bares Âncora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22960" y="3703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manual com bares que já têm programação semanal — geram oferta de vagas e atraem artistas.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474720" y="3383280"/>
            <a:ext cx="731520" cy="228600"/>
          </a:xfrm>
          <a:prstGeom prst="roundRect">
            <a:avLst>
              <a:gd name="adj" fmla="val 20000"/>
            </a:avLst>
          </a:prstGeom>
          <a:solidFill>
            <a:srgbClr val="F0A500"/>
          </a:solidFill>
          <a:ln/>
        </p:spPr>
      </p:sp>
      <p:sp>
        <p:nvSpPr>
          <p:cNvPr id="32" name="Text 25"/>
          <p:cNvSpPr/>
          <p:nvPr/>
        </p:nvSpPr>
        <p:spPr>
          <a:xfrm>
            <a:off x="3474720" y="3383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VALIDAR</a:t>
            </a:r>
            <a:endParaRPr lang="en-US" sz="700" dirty="0"/>
          </a:p>
        </p:txBody>
      </p:sp>
      <p:sp>
        <p:nvSpPr>
          <p:cNvPr id="33" name="Shape 26"/>
          <p:cNvSpPr/>
          <p:nvPr/>
        </p:nvSpPr>
        <p:spPr>
          <a:xfrm>
            <a:off x="0" y="4434840"/>
            <a:ext cx="9144000" cy="71323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4" name="Text 27"/>
          <p:cNvSpPr/>
          <p:nvPr/>
        </p:nvSpPr>
        <p:spPr>
          <a:xfrm>
            <a:off x="640080" y="443484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Estratégias definidas no Lean Canvas e análise de mercado. Validação prática prevista para o lançamento do MVP na cidade piloto.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Equipe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32004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097280"/>
            <a:ext cx="32004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2148840" y="1234440"/>
            <a:ext cx="731520" cy="731520"/>
          </a:xfrm>
          <a:prstGeom prst="ellipse">
            <a:avLst/>
          </a:prstGeom>
          <a:solidFill>
            <a:srgbClr val="E945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Vitor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Backend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2743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Express, Sequelize, 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prévia em empreendedorismo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(negócios físicos)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0" y="1097280"/>
            <a:ext cx="32004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1097280"/>
            <a:ext cx="3200400" cy="82296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Shape 9"/>
          <p:cNvSpPr/>
          <p:nvPr/>
        </p:nvSpPr>
        <p:spPr>
          <a:xfrm>
            <a:off x="6263640" y="1234440"/>
            <a:ext cx="731520" cy="731520"/>
          </a:xfrm>
          <a:prstGeom prst="ellipse">
            <a:avLst/>
          </a:prstGeom>
          <a:solidFill>
            <a:srgbClr val="0F346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Pedro Henrique Laera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02920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Frontend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212080" y="2743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Native, Expo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mobile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 (iOS + Android)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062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40690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anos trabalhando juntos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funções (design, marketing, jurídico) são delegadas conforme demanda e disponibilidade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Toca Aqui — Elevator Pitch</dc:title>
  <dc:subject>PptxGenJS Presentation</dc:subject>
  <dc:creator>Vitor</dc:creator>
  <cp:lastModifiedBy>Vitor</cp:lastModifiedBy>
  <cp:revision>1</cp:revision>
  <dcterms:created xsi:type="dcterms:W3CDTF">2026-04-06T17:53:01Z</dcterms:created>
  <dcterms:modified xsi:type="dcterms:W3CDTF">2026-04-06T17:53:01Z</dcterms:modified>
</cp:coreProperties>
</file>